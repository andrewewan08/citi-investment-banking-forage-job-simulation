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886" r:id="rId2"/>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36" userDrawn="1">
          <p15:clr>
            <a:srgbClr val="A4A3A4"/>
          </p15:clr>
        </p15:guide>
        <p15:guide id="2" pos="264" userDrawn="1">
          <p15:clr>
            <a:srgbClr val="A4A3A4"/>
          </p15:clr>
        </p15:guide>
        <p15:guide id="3" orient="horz" pos="936" userDrawn="1">
          <p15:clr>
            <a:srgbClr val="A4A3A4"/>
          </p15:clr>
        </p15:guide>
        <p15:guide id="4" orient="horz" pos="2520" userDrawn="1">
          <p15:clr>
            <a:srgbClr val="A4A3A4"/>
          </p15:clr>
        </p15:guide>
        <p15:guide id="5" orient="horz"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9948"/>
    <a:srgbClr val="9BBB59"/>
    <a:srgbClr val="2A3647"/>
    <a:srgbClr val="BFBFBF"/>
    <a:srgbClr val="558ED5"/>
    <a:srgbClr val="E6E6E6"/>
    <a:srgbClr val="DCE6F1"/>
    <a:srgbClr val="FDFF5A"/>
    <a:srgbClr val="546C8D"/>
    <a:srgbClr val="C6D9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49" autoAdjust="0"/>
    <p:restoredTop sz="94614" autoAdjust="0"/>
  </p:normalViewPr>
  <p:slideViewPr>
    <p:cSldViewPr snapToGrid="0">
      <p:cViewPr>
        <p:scale>
          <a:sx n="100" d="100"/>
          <a:sy n="100" d="100"/>
        </p:scale>
        <p:origin x="786" y="-1272"/>
      </p:cViewPr>
      <p:guideLst>
        <p:guide orient="horz" pos="2736"/>
        <p:guide pos="264"/>
        <p:guide orient="horz" pos="936"/>
        <p:guide orient="horz" pos="2520"/>
        <p:guide orient="horz" pos="3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1"/>
          </a:xfrm>
          <a:prstGeom prst="rect">
            <a:avLst/>
          </a:prstGeom>
        </p:spPr>
        <p:txBody>
          <a:bodyPr vert="horz" lIns="93312" tIns="46657" rIns="93312" bIns="46657"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1"/>
          </a:xfrm>
          <a:prstGeom prst="rect">
            <a:avLst/>
          </a:prstGeom>
        </p:spPr>
        <p:txBody>
          <a:bodyPr vert="horz" lIns="93312" tIns="46657" rIns="93312" bIns="46657" rtlCol="0"/>
          <a:lstStyle>
            <a:lvl1pPr algn="r">
              <a:defRPr sz="1200"/>
            </a:lvl1pPr>
          </a:lstStyle>
          <a:p>
            <a:fld id="{849BD7E0-0735-4C51-BED6-85D331CB9D50}" type="datetimeFigureOut">
              <a:rPr lang="en-US" smtClean="0"/>
              <a:t>12/1/2022</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12" tIns="46657" rIns="93312" bIns="46657" rtlCol="0" anchor="ctr"/>
          <a:lstStyle/>
          <a:p>
            <a:endParaRPr lang="en-US" dirty="0"/>
          </a:p>
        </p:txBody>
      </p:sp>
      <p:sp>
        <p:nvSpPr>
          <p:cNvPr id="5" name="Notes Placeholder 4"/>
          <p:cNvSpPr>
            <a:spLocks noGrp="1"/>
          </p:cNvSpPr>
          <p:nvPr>
            <p:ph type="body" sz="quarter" idx="3"/>
          </p:nvPr>
        </p:nvSpPr>
        <p:spPr>
          <a:xfrm>
            <a:off x="702310" y="4480004"/>
            <a:ext cx="5618480" cy="3665459"/>
          </a:xfrm>
          <a:prstGeom prst="rect">
            <a:avLst/>
          </a:prstGeom>
        </p:spPr>
        <p:txBody>
          <a:bodyPr vert="horz" lIns="93312" tIns="46657" rIns="93312" bIns="4665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1"/>
            <a:ext cx="3043343" cy="467070"/>
          </a:xfrm>
          <a:prstGeom prst="rect">
            <a:avLst/>
          </a:prstGeom>
        </p:spPr>
        <p:txBody>
          <a:bodyPr vert="horz" lIns="93312" tIns="46657" rIns="93312" bIns="4665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1"/>
            <a:ext cx="3043343" cy="467070"/>
          </a:xfrm>
          <a:prstGeom prst="rect">
            <a:avLst/>
          </a:prstGeom>
        </p:spPr>
        <p:txBody>
          <a:bodyPr vert="horz" lIns="93312" tIns="46657" rIns="93312" bIns="46657" rtlCol="0" anchor="b"/>
          <a:lstStyle>
            <a:lvl1pPr algn="r">
              <a:defRPr sz="1200"/>
            </a:lvl1pPr>
          </a:lstStyle>
          <a:p>
            <a:fld id="{99FF416D-3A13-4461-9A32-8814D42D49EB}" type="slidenum">
              <a:rPr lang="en-US" smtClean="0"/>
              <a:t>‹#›</a:t>
            </a:fld>
            <a:endParaRPr lang="en-US" dirty="0"/>
          </a:p>
        </p:txBody>
      </p:sp>
    </p:spTree>
    <p:extLst>
      <p:ext uri="{BB962C8B-B14F-4D97-AF65-F5344CB8AC3E}">
        <p14:creationId xmlns:p14="http://schemas.microsoft.com/office/powerpoint/2010/main" val="3113220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95619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533400"/>
          </a:xfrm>
        </p:spPr>
        <p:txBody>
          <a:bodyPr/>
          <a:lstStyle/>
          <a:p>
            <a:r>
              <a:rPr lang="en-US" dirty="0"/>
              <a:t>Click to edit Master title style</a:t>
            </a:r>
          </a:p>
        </p:txBody>
      </p:sp>
      <p:sp>
        <p:nvSpPr>
          <p:cNvPr id="10" name="Content Placeholder 9"/>
          <p:cNvSpPr>
            <a:spLocks noGrp="1"/>
          </p:cNvSpPr>
          <p:nvPr>
            <p:ph sz="quarter" idx="13"/>
          </p:nvPr>
        </p:nvSpPr>
        <p:spPr>
          <a:xfrm>
            <a:off x="304800" y="838200"/>
            <a:ext cx="8534400" cy="5486400"/>
          </a:xfrm>
        </p:spPr>
        <p:txBody>
          <a:bodyPr/>
          <a:lstStyle>
            <a:lvl1pPr>
              <a:defRPr>
                <a:solidFill>
                  <a:schemeClr val="tx1"/>
                </a:solidFill>
              </a:defRPr>
            </a:lvl1pPr>
            <a:lvl2pPr>
              <a:defRPr sz="950">
                <a:solidFill>
                  <a:schemeClr val="tx1"/>
                </a:solidFill>
              </a:defRPr>
            </a:lvl2pPr>
            <a:lvl3pPr>
              <a:defRPr sz="900">
                <a:solidFill>
                  <a:schemeClr val="tx1"/>
                </a:solidFill>
              </a:defRPr>
            </a:lvl3pPr>
            <a:lvl4pPr>
              <a:defRPr sz="1100">
                <a:solidFill>
                  <a:schemeClr val="tx1"/>
                </a:solidFill>
              </a:defRPr>
            </a:lvl4pPr>
            <a:lvl5pPr>
              <a:defRPr sz="11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11"/>
          <p:cNvSpPr>
            <a:spLocks noGrp="1"/>
          </p:cNvSpPr>
          <p:nvPr>
            <p:ph type="body" sz="quarter" idx="16"/>
          </p:nvPr>
        </p:nvSpPr>
        <p:spPr>
          <a:xfrm>
            <a:off x="1676400" y="381000"/>
            <a:ext cx="7162800" cy="304800"/>
          </a:xfrm>
        </p:spPr>
        <p:txBody>
          <a:bodyPr/>
          <a:lstStyle>
            <a:lvl1pPr algn="r">
              <a:buNone/>
              <a:defRPr b="1" i="1">
                <a:solidFill>
                  <a:schemeClr val="accent1"/>
                </a:solidFill>
                <a:latin typeface="+mn-lt"/>
              </a:defRPr>
            </a:lvl1pPr>
            <a:lvl2pPr>
              <a:buNone/>
              <a:defRPr/>
            </a:lvl2pPr>
            <a:lvl3pPr>
              <a:buNone/>
              <a:defRPr/>
            </a:lvl3pPr>
            <a:lvl4pPr>
              <a:buNone/>
              <a:defRPr/>
            </a:lvl4pPr>
            <a:lvl5pPr>
              <a:buNone/>
              <a:defRPr/>
            </a:lvl5pPr>
          </a:lstStyle>
          <a:p>
            <a:pPr lvl="0"/>
            <a:r>
              <a:rPr lang="en-US" dirty="0"/>
              <a:t>Click to edit Master text styles</a:t>
            </a:r>
          </a:p>
        </p:txBody>
      </p:sp>
      <p:sp>
        <p:nvSpPr>
          <p:cNvPr id="5" name="Slide Number Placeholder 22"/>
          <p:cNvSpPr>
            <a:spLocks noGrp="1"/>
          </p:cNvSpPr>
          <p:nvPr>
            <p:ph type="sldNum" sz="quarter" idx="17"/>
          </p:nvPr>
        </p:nvSpPr>
        <p:spPr>
          <a:xfrm>
            <a:off x="8224838" y="6575425"/>
            <a:ext cx="1071562" cy="225425"/>
          </a:xfrm>
          <a:prstGeom prst="rect">
            <a:avLst/>
          </a:prstGeom>
        </p:spPr>
        <p:txBody>
          <a:bodyPr/>
          <a:lstStyle>
            <a:lvl1pPr>
              <a:defRPr/>
            </a:lvl1pPr>
          </a:lstStyle>
          <a:p>
            <a:pPr>
              <a:defRPr/>
            </a:pPr>
            <a:fld id="{DEABF985-C6E2-4259-BC55-A2442D7D7EC5}" type="slidenum">
              <a:rPr lang="en-US" smtClean="0">
                <a:solidFill>
                  <a:srgbClr val="000000"/>
                </a:solidFill>
              </a:rPr>
              <a:pPr>
                <a:defRPr/>
              </a:pPr>
              <a:t>‹#›</a:t>
            </a:fld>
            <a:endParaRPr lang="en-US" dirty="0">
              <a:solidFill>
                <a:srgbClr val="000000"/>
              </a:solidFill>
            </a:endParaRPr>
          </a:p>
        </p:txBody>
      </p:sp>
      <p:sp>
        <p:nvSpPr>
          <p:cNvPr id="6" name="Footer Placeholder 9"/>
          <p:cNvSpPr>
            <a:spLocks noGrp="1"/>
          </p:cNvSpPr>
          <p:nvPr>
            <p:ph type="ftr" sz="quarter" idx="18"/>
          </p:nvPr>
        </p:nvSpPr>
        <p:spPr/>
        <p:txBody>
          <a:bodyPr/>
          <a:lstStyle>
            <a:lvl1pPr>
              <a:defRPr/>
            </a:lvl1pPr>
          </a:lstStyle>
          <a:p>
            <a:pPr>
              <a:defRPr/>
            </a:pPr>
            <a:r>
              <a:rPr lang="en-US" dirty="0">
                <a:solidFill>
                  <a:srgbClr val="000000">
                    <a:lumMod val="65000"/>
                    <a:lumOff val="35000"/>
                  </a:srgbClr>
                </a:solidFill>
              </a:rPr>
              <a:t>Source:</a:t>
            </a:r>
          </a:p>
        </p:txBody>
      </p:sp>
    </p:spTree>
    <p:extLst>
      <p:ext uri="{BB962C8B-B14F-4D97-AF65-F5344CB8AC3E}">
        <p14:creationId xmlns:p14="http://schemas.microsoft.com/office/powerpoint/2010/main" val="30124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0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0" kern="1200" cap="none"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69901" y="990600"/>
            <a:ext cx="8204200" cy="1125583"/>
          </a:xfrm>
          <a:prstGeom prst="rect">
            <a:avLst/>
          </a:prstGeom>
        </p:spPr>
        <p:txBody>
          <a:bodyPr/>
          <a:lstStyle>
            <a:lvl1pPr marL="0" indent="0" algn="just" defTabSz="914400" rtl="0" eaLnBrk="1" fontAlgn="base" latinLnBrk="0" hangingPunct="1">
              <a:lnSpc>
                <a:spcPct val="114000"/>
              </a:lnSpc>
              <a:spcBef>
                <a:spcPts val="1200"/>
              </a:spcBef>
              <a:spcAft>
                <a:spcPts val="900"/>
              </a:spcAft>
              <a:buClrTx/>
              <a:buSzPct val="100000"/>
              <a:buFont typeface="Wingdings" pitchFamily="2" charset="2"/>
              <a:buNone/>
              <a:defRPr lang="en-US" sz="1200" b="1" kern="1200" dirty="0" smtClean="0">
                <a:solidFill>
                  <a:schemeClr val="tx1"/>
                </a:solidFill>
                <a:latin typeface="Roboto Lt" pitchFamily="2" charset="0"/>
                <a:ea typeface="Roboto Lt" pitchFamily="2" charset="0"/>
                <a:cs typeface="Helvetica" panose="020B0604020202020204" pitchFamily="34" charset="0"/>
              </a:defRPr>
            </a:lvl1pPr>
            <a:lvl2pPr marL="410779" indent="-204794">
              <a:buClrTx/>
              <a:buSzPct val="100000"/>
              <a:buFont typeface="Wingdings" panose="05000000000000000000" pitchFamily="2" charset="2"/>
              <a:buChar char="§"/>
              <a:defRPr lang="en-US" sz="713" kern="1200" dirty="0" smtClean="0">
                <a:solidFill>
                  <a:schemeClr val="tx1"/>
                </a:solidFill>
                <a:latin typeface="+mn-lt"/>
                <a:ea typeface="+mn-ea"/>
                <a:cs typeface="+mn-cs"/>
              </a:defRPr>
            </a:lvl2pPr>
            <a:lvl3pPr marL="616763" indent="-171456">
              <a:buFont typeface="Wingdings" panose="05000000000000000000" pitchFamily="2" charset="2"/>
              <a:buChar char="q"/>
              <a:defRPr lang="en-US" sz="675"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384221" y="6556375"/>
            <a:ext cx="375557"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88855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4A766D-D653-4AB1-AA73-807F6173D2D0}" type="datetimeFigureOut">
              <a:rPr lang="en-US" smtClean="0">
                <a:solidFill>
                  <a:prstClr val="black">
                    <a:tint val="75000"/>
                  </a:prstClr>
                </a:solidFill>
              </a:rPr>
              <a:pPr/>
              <a:t>12/1/2022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E016DCD-4470-47B1-B94E-BB0D31D5A9DA}"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1916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0" name="Content Placeholder 9"/>
          <p:cNvSpPr>
            <a:spLocks noGrp="1"/>
          </p:cNvSpPr>
          <p:nvPr>
            <p:ph sz="quarter" idx="13"/>
          </p:nvPr>
        </p:nvSpPr>
        <p:spPr>
          <a:xfrm>
            <a:off x="304800" y="838200"/>
            <a:ext cx="8534400" cy="5486400"/>
          </a:xfrm>
        </p:spPr>
        <p:txBody>
          <a:bodyPr/>
          <a:lstStyle>
            <a:lvl1pPr>
              <a:defRPr>
                <a:solidFill>
                  <a:schemeClr val="tx1"/>
                </a:solidFill>
              </a:defRPr>
            </a:lvl1pPr>
            <a:lvl2pPr>
              <a:defRPr>
                <a:solidFill>
                  <a:schemeClr val="tx1"/>
                </a:solidFill>
              </a:defRPr>
            </a:lvl2pPr>
            <a:lvl3pPr>
              <a:defRPr sz="1100">
                <a:solidFill>
                  <a:schemeClr val="tx1"/>
                </a:solidFill>
              </a:defRPr>
            </a:lvl3pPr>
            <a:lvl4pPr>
              <a:defRPr sz="1100">
                <a:solidFill>
                  <a:schemeClr val="tx1"/>
                </a:solidFill>
              </a:defRPr>
            </a:lvl4pPr>
            <a:lvl5pPr>
              <a:defRPr sz="1100" i="1">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2"/>
          <p:cNvSpPr>
            <a:spLocks noGrp="1"/>
          </p:cNvSpPr>
          <p:nvPr>
            <p:ph type="sldNum" sz="quarter" idx="17"/>
          </p:nvPr>
        </p:nvSpPr>
        <p:spPr>
          <a:xfrm>
            <a:off x="8224838" y="6575425"/>
            <a:ext cx="1071562" cy="225425"/>
          </a:xfrm>
          <a:prstGeom prst="rect">
            <a:avLst/>
          </a:prstGeom>
        </p:spPr>
        <p:txBody>
          <a:bodyPr/>
          <a:lstStyle>
            <a:lvl1pPr>
              <a:defRPr/>
            </a:lvl1pPr>
          </a:lstStyle>
          <a:p>
            <a:pPr>
              <a:defRPr/>
            </a:pPr>
            <a:fld id="{DEABF985-C6E2-4259-BC55-A2442D7D7EC5}" type="slidenum">
              <a:rPr lang="en-US" smtClean="0">
                <a:solidFill>
                  <a:srgbClr val="000000"/>
                </a:solidFill>
              </a:rPr>
              <a:pPr>
                <a:defRPr/>
              </a:pPr>
              <a:t>‹#›</a:t>
            </a:fld>
            <a:endParaRPr lang="en-US" dirty="0">
              <a:solidFill>
                <a:srgbClr val="000000"/>
              </a:solidFill>
            </a:endParaRPr>
          </a:p>
        </p:txBody>
      </p:sp>
      <p:sp>
        <p:nvSpPr>
          <p:cNvPr id="6" name="Footer Placeholder 9"/>
          <p:cNvSpPr>
            <a:spLocks noGrp="1"/>
          </p:cNvSpPr>
          <p:nvPr>
            <p:ph type="ftr" sz="quarter" idx="18"/>
          </p:nvPr>
        </p:nvSpPr>
        <p:spPr/>
        <p:txBody>
          <a:bodyPr/>
          <a:lstStyle>
            <a:lvl1pPr>
              <a:defRPr/>
            </a:lvl1pPr>
          </a:lstStyle>
          <a:p>
            <a:pPr>
              <a:defRPr/>
            </a:pPr>
            <a:r>
              <a:rPr lang="en-US" dirty="0">
                <a:solidFill>
                  <a:srgbClr val="000000">
                    <a:lumMod val="65000"/>
                    <a:lumOff val="35000"/>
                  </a:srgbClr>
                </a:solidFill>
              </a:rPr>
              <a:t>Source:</a:t>
            </a:r>
          </a:p>
        </p:txBody>
      </p:sp>
    </p:spTree>
    <p:extLst>
      <p:ext uri="{BB962C8B-B14F-4D97-AF65-F5344CB8AC3E}">
        <p14:creationId xmlns:p14="http://schemas.microsoft.com/office/powerpoint/2010/main" val="3412380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3" name="Footer Placeholder 2"/>
          <p:cNvSpPr>
            <a:spLocks noGrp="1"/>
          </p:cNvSpPr>
          <p:nvPr>
            <p:ph type="ftr" sz="quarter" idx="10"/>
          </p:nvPr>
        </p:nvSpPr>
        <p:spPr>
          <a:xfrm>
            <a:off x="304800" y="6294438"/>
            <a:ext cx="8534400" cy="182562"/>
          </a:xfrm>
          <a:prstGeom prst="rect">
            <a:avLst/>
          </a:prstGeom>
        </p:spPr>
        <p:txBody>
          <a:bodyPr/>
          <a:lstStyle/>
          <a:p>
            <a:pPr>
              <a:defRPr/>
            </a:pPr>
            <a:r>
              <a:rPr lang="en-US" dirty="0"/>
              <a:t>(1) Potential extension of the forbearance agreement would be subject to achieving certain milestones (e.g. execution of a letter of intent with a credible buyer)</a:t>
            </a:r>
          </a:p>
        </p:txBody>
      </p:sp>
      <p:sp>
        <p:nvSpPr>
          <p:cNvPr id="6" name="Slide Number Placeholder 22"/>
          <p:cNvSpPr>
            <a:spLocks noGrp="1"/>
          </p:cNvSpPr>
          <p:nvPr>
            <p:ph type="sldNum" sz="quarter" idx="4"/>
          </p:nvPr>
        </p:nvSpPr>
        <p:spPr>
          <a:xfrm>
            <a:off x="8255000"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838200"/>
            <a:ext cx="8531352" cy="5184648"/>
          </a:xfrm>
          <a:prstGeom prst="rect">
            <a:avLst/>
          </a:prstGeom>
        </p:spPr>
        <p:txBody>
          <a:bodyPr/>
          <a:lstStyle>
            <a:lvl1pPr>
              <a:defRPr lang="en-US" sz="1050" kern="1200" dirty="0" smtClean="0">
                <a:solidFill>
                  <a:schemeClr val="tx1"/>
                </a:solidFill>
                <a:latin typeface="+mn-lt"/>
                <a:ea typeface="+mn-ea"/>
                <a:cs typeface="+mn-cs"/>
              </a:defRPr>
            </a:lvl1pPr>
            <a:lvl2pPr>
              <a:defRPr lang="en-US" sz="960" kern="1200" dirty="0" smtClean="0">
                <a:solidFill>
                  <a:schemeClr val="tx1"/>
                </a:solidFill>
                <a:latin typeface="+mn-lt"/>
                <a:ea typeface="+mn-ea"/>
                <a:cs typeface="+mn-cs"/>
              </a:defRPr>
            </a:lvl2pPr>
            <a:lvl3pPr>
              <a:defRPr lang="en-US" sz="96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l" rtl="0" eaLnBrk="1" fontAlgn="base" hangingPunct="1">
              <a:lnSpc>
                <a:spcPct val="114000"/>
              </a:lnSpc>
              <a:spcBef>
                <a:spcPts val="300"/>
              </a:spcBef>
              <a:spcAft>
                <a:spcPts val="300"/>
              </a:spcAft>
              <a:buClr>
                <a:schemeClr val="accent1"/>
              </a:buClr>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Tree>
    <p:extLst>
      <p:ext uri="{BB962C8B-B14F-4D97-AF65-F5344CB8AC3E}">
        <p14:creationId xmlns:p14="http://schemas.microsoft.com/office/powerpoint/2010/main" val="39291042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04800"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Rectangle 7"/>
          <p:cNvSpPr/>
          <p:nvPr/>
        </p:nvSpPr>
        <p:spPr bwMode="auto">
          <a:xfrm>
            <a:off x="304800" y="838203"/>
            <a:ext cx="8503920" cy="5949953"/>
          </a:xfrm>
          <a:prstGeom prst="rect">
            <a:avLst/>
          </a:prstGeom>
          <a:solidFill>
            <a:srgbClr val="E6E6E6"/>
          </a:solidFill>
          <a:ln w="12700" cap="rnd" cmpd="sng">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prstClr val="black"/>
              </a:solidFill>
            </a:endParaRPr>
          </a:p>
        </p:txBody>
      </p:sp>
      <p:sp>
        <p:nvSpPr>
          <p:cNvPr id="13" name="Slide Number Placeholder 22"/>
          <p:cNvSpPr>
            <a:spLocks noGrp="1"/>
          </p:cNvSpPr>
          <p:nvPr>
            <p:ph type="sldNum" sz="quarter" idx="4"/>
          </p:nvPr>
        </p:nvSpPr>
        <p:spPr>
          <a:xfrm>
            <a:off x="4384221" y="6556375"/>
            <a:ext cx="375557"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cxnSp>
        <p:nvCxnSpPr>
          <p:cNvPr id="15" name="Straight Connector 14"/>
          <p:cNvCxnSpPr/>
          <p:nvPr userDrawn="1"/>
        </p:nvCxnSpPr>
        <p:spPr>
          <a:xfrm>
            <a:off x="1460607" y="6667276"/>
            <a:ext cx="2834640" cy="0"/>
          </a:xfrm>
          <a:prstGeom prst="line">
            <a:avLst/>
          </a:prstGeom>
          <a:ln w="9525" cmpd="sng">
            <a:solidFill>
              <a:srgbClr val="68686D"/>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4843398" y="6667276"/>
            <a:ext cx="3657600" cy="0"/>
          </a:xfrm>
          <a:prstGeom prst="line">
            <a:avLst/>
          </a:prstGeom>
          <a:ln w="9525" cmpd="sng">
            <a:solidFill>
              <a:srgbClr val="68686D"/>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780554"/>
      </p:ext>
    </p:extLst>
  </p:cSld>
  <p:clrMap bg1="lt1" tx1="dk1" bg2="lt2" tx2="dk2" accent1="accent1" accent2="accent2" accent3="accent3" accent4="accent4" accent5="accent5" accent6="accent6" hlink="hlink" folHlink="folHlink"/>
  <p:sldLayoutIdLst>
    <p:sldLayoutId id="2147483691" r:id="rId1"/>
    <p:sldLayoutId id="2147483677" r:id="rId2"/>
    <p:sldLayoutId id="2147483673" r:id="rId3"/>
    <p:sldLayoutId id="2147483692" r:id="rId4"/>
    <p:sldLayoutId id="2147483697" r:id="rId5"/>
    <p:sldLayoutId id="2147483698" r:id="rId6"/>
  </p:sldLayoutIdLst>
  <p:txStyles>
    <p:titleStyle>
      <a:lvl1pPr marL="0" algn="l" defTabSz="914400" rtl="0" eaLnBrk="1" fontAlgn="base" latinLnBrk="0" hangingPunct="1">
        <a:spcBef>
          <a:spcPct val="0"/>
        </a:spcBef>
        <a:spcAft>
          <a:spcPct val="0"/>
        </a:spcAft>
        <a:defRPr lang="en-US" sz="1600" b="0" kern="1200" cap="all" baseline="0" dirty="0" smtClean="0">
          <a:solidFill>
            <a:schemeClr val="tx1"/>
          </a:solidFill>
          <a:latin typeface="Roboto Lt" pitchFamily="2" charset="0"/>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3472571953"/>
              </p:ext>
            </p:extLst>
          </p:nvPr>
        </p:nvGraphicFramePr>
        <p:xfrm>
          <a:off x="380422" y="1430445"/>
          <a:ext cx="1163898" cy="426720"/>
        </p:xfrm>
        <a:graphic>
          <a:graphicData uri="http://schemas.openxmlformats.org/drawingml/2006/table">
            <a:tbl>
              <a:tblPr bandRow="1"/>
              <a:tblGrid>
                <a:gridCol w="688068">
                  <a:extLst>
                    <a:ext uri="{9D8B030D-6E8A-4147-A177-3AD203B41FA5}">
                      <a16:colId xmlns:a16="http://schemas.microsoft.com/office/drawing/2014/main" val="20000"/>
                    </a:ext>
                  </a:extLst>
                </a:gridCol>
                <a:gridCol w="475830">
                  <a:extLst>
                    <a:ext uri="{9D8B030D-6E8A-4147-A177-3AD203B41FA5}">
                      <a16:colId xmlns:a16="http://schemas.microsoft.com/office/drawing/2014/main" val="20001"/>
                    </a:ext>
                  </a:extLst>
                </a:gridCol>
              </a:tblGrid>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dirty="0">
                          <a:solidFill>
                            <a:schemeClr val="tx1"/>
                          </a:solidFill>
                        </a:rPr>
                        <a:t>Founded:</a:t>
                      </a:r>
                      <a:endParaRPr lang="en-US" sz="800" b="1" u="none" baseline="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l"/>
                      <a:r>
                        <a:rPr kumimoji="0" lang="en-US" sz="800" kern="1200" dirty="0">
                          <a:solidFill>
                            <a:schemeClr val="tx1"/>
                          </a:solidFill>
                          <a:latin typeface="Calibri"/>
                          <a:ea typeface="+mn-ea"/>
                          <a:cs typeface="+mn-cs"/>
                        </a:rPr>
                        <a:t>1966</a:t>
                      </a:r>
                      <a:endParaRPr kumimoji="0" lang="en-US" sz="800" kern="1200" dirty="0">
                        <a:solidFill>
                          <a:schemeClr val="tx1"/>
                        </a:solidFill>
                        <a:latin typeface="Calibri"/>
                        <a:ea typeface="+mn-ea"/>
                        <a:cs typeface="+mn-cs"/>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No. Stores: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l"/>
                      <a:r>
                        <a:rPr kumimoji="0" lang="en-US" sz="800" kern="1200" dirty="0">
                          <a:solidFill>
                            <a:schemeClr val="tx1"/>
                          </a:solidFill>
                          <a:latin typeface="Calibri"/>
                          <a:ea typeface="+mn-ea"/>
                          <a:cs typeface="+mn-cs"/>
                        </a:rPr>
                        <a:t>1,144</a:t>
                      </a:r>
                      <a:endParaRPr kumimoji="0" lang="en-US" sz="800" kern="1200" dirty="0">
                        <a:solidFill>
                          <a:schemeClr val="tx1"/>
                        </a:solidFill>
                        <a:latin typeface="Calibri"/>
                        <a:ea typeface="+mn-ea"/>
                        <a:cs typeface="+mn-cs"/>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6" name="Title 1"/>
          <p:cNvSpPr>
            <a:spLocks noGrp="1"/>
          </p:cNvSpPr>
          <p:nvPr>
            <p:ph type="title"/>
          </p:nvPr>
        </p:nvSpPr>
        <p:spPr>
          <a:xfrm>
            <a:off x="304801" y="152401"/>
            <a:ext cx="8534400" cy="533400"/>
          </a:xfrm>
        </p:spPr>
        <p:txBody>
          <a:bodyPr/>
          <a:lstStyle/>
          <a:p>
            <a:r>
              <a:rPr lang="en-US" sz="1600" b="1" dirty="0"/>
              <a:t>BEST BUY | </a:t>
            </a:r>
            <a:r>
              <a:rPr lang="en-US" sz="1600" dirty="0"/>
              <a:t>TARGET COMPANY PROFILE</a:t>
            </a:r>
          </a:p>
        </p:txBody>
      </p:sp>
      <p:sp>
        <p:nvSpPr>
          <p:cNvPr id="27" name="Rectangle 26"/>
          <p:cNvSpPr/>
          <p:nvPr/>
        </p:nvSpPr>
        <p:spPr bwMode="auto">
          <a:xfrm>
            <a:off x="380422" y="1920240"/>
            <a:ext cx="2332298"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ENTERPRISE VALUE</a:t>
            </a:r>
          </a:p>
        </p:txBody>
      </p:sp>
      <p:cxnSp>
        <p:nvCxnSpPr>
          <p:cNvPr id="22" name="Straight Connector 21"/>
          <p:cNvCxnSpPr/>
          <p:nvPr/>
        </p:nvCxnSpPr>
        <p:spPr>
          <a:xfrm>
            <a:off x="2798791" y="1036709"/>
            <a:ext cx="0" cy="5463442"/>
          </a:xfrm>
          <a:prstGeom prst="line">
            <a:avLst/>
          </a:prstGeom>
          <a:ln w="31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1634483374"/>
              </p:ext>
            </p:extLst>
          </p:nvPr>
        </p:nvGraphicFramePr>
        <p:xfrm>
          <a:off x="380422" y="2134036"/>
          <a:ext cx="2332298" cy="2080071"/>
        </p:xfrm>
        <a:graphic>
          <a:graphicData uri="http://schemas.openxmlformats.org/drawingml/2006/table">
            <a:tbl>
              <a:tblPr>
                <a:tableStyleId>{5C22544A-7EE6-4342-B048-85BDC9FD1C3A}</a:tableStyleId>
              </a:tblPr>
              <a:tblGrid>
                <a:gridCol w="1399379">
                  <a:extLst>
                    <a:ext uri="{9D8B030D-6E8A-4147-A177-3AD203B41FA5}">
                      <a16:colId xmlns:a16="http://schemas.microsoft.com/office/drawing/2014/main" val="20000"/>
                    </a:ext>
                  </a:extLst>
                </a:gridCol>
                <a:gridCol w="932919">
                  <a:extLst>
                    <a:ext uri="{9D8B030D-6E8A-4147-A177-3AD203B41FA5}">
                      <a16:colId xmlns:a16="http://schemas.microsoft.com/office/drawing/2014/main" val="20001"/>
                    </a:ext>
                  </a:extLst>
                </a:gridCol>
              </a:tblGrid>
              <a:tr h="297153">
                <a:tc>
                  <a:txBody>
                    <a:bodyPr/>
                    <a:lstStyle/>
                    <a:p>
                      <a:pPr marL="0" marR="0">
                        <a:lnSpc>
                          <a:spcPct val="107000"/>
                        </a:lnSpc>
                        <a:spcBef>
                          <a:spcPts val="0"/>
                        </a:spcBef>
                        <a:spcAft>
                          <a:spcPts val="0"/>
                        </a:spcAft>
                      </a:pPr>
                      <a:r>
                        <a:rPr lang="en-US" sz="800" b="1" dirty="0">
                          <a:effectLst/>
                        </a:rPr>
                        <a:t>Current Share Price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$80.89</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7153">
                <a:tc>
                  <a:txBody>
                    <a:bodyPr/>
                    <a:lstStyle/>
                    <a:p>
                      <a:pPr marL="0" marR="0">
                        <a:lnSpc>
                          <a:spcPct val="107000"/>
                        </a:lnSpc>
                        <a:spcBef>
                          <a:spcPts val="0"/>
                        </a:spcBef>
                        <a:spcAft>
                          <a:spcPts val="0"/>
                        </a:spcAft>
                      </a:pPr>
                      <a:r>
                        <a:rPr lang="en-US" sz="800" b="1" dirty="0">
                          <a:effectLst/>
                        </a:rPr>
                        <a:t>Shares Outstanding (mm)</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225.5</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97153">
                <a:tc>
                  <a:txBody>
                    <a:bodyPr/>
                    <a:lstStyle/>
                    <a:p>
                      <a:pPr marL="0" marR="0">
                        <a:lnSpc>
                          <a:spcPct val="107000"/>
                        </a:lnSpc>
                        <a:spcBef>
                          <a:spcPts val="0"/>
                        </a:spcBef>
                        <a:spcAft>
                          <a:spcPts val="0"/>
                        </a:spcAft>
                      </a:pPr>
                      <a:r>
                        <a:rPr lang="en-US" sz="800" b="1" dirty="0">
                          <a:effectLst/>
                        </a:rPr>
                        <a:t>Market Cap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$18,240.7</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97153">
                <a:tc>
                  <a:txBody>
                    <a:bodyPr/>
                    <a:lstStyle/>
                    <a:p>
                      <a:pPr marL="0" marR="0">
                        <a:lnSpc>
                          <a:spcPct val="107000"/>
                        </a:lnSpc>
                        <a:spcBef>
                          <a:spcPts val="0"/>
                        </a:spcBef>
                        <a:spcAft>
                          <a:spcPts val="0"/>
                        </a:spcAft>
                      </a:pPr>
                      <a:r>
                        <a:rPr lang="en-US" sz="800" b="1" dirty="0">
                          <a:effectLst/>
                        </a:rPr>
                        <a:t>Add: Short-Term Debt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$16.0</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97153">
                <a:tc>
                  <a:txBody>
                    <a:bodyPr/>
                    <a:lstStyle/>
                    <a:p>
                      <a:pPr marL="0" marR="0">
                        <a:lnSpc>
                          <a:spcPct val="107000"/>
                        </a:lnSpc>
                        <a:spcBef>
                          <a:spcPts val="0"/>
                        </a:spcBef>
                        <a:spcAft>
                          <a:spcPts val="0"/>
                        </a:spcAft>
                      </a:pPr>
                      <a:r>
                        <a:rPr lang="en-US" sz="800" b="1" dirty="0">
                          <a:effectLst/>
                        </a:rPr>
                        <a:t>Add: Long-Term Debt</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$1,142.0</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Subtract: Cash and Equivalents</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($932.0)</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Total Enterprise Value</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$18,466.7</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3230205308"/>
              </p:ext>
            </p:extLst>
          </p:nvPr>
        </p:nvGraphicFramePr>
        <p:xfrm>
          <a:off x="1558983" y="1430445"/>
          <a:ext cx="1163898" cy="426720"/>
        </p:xfrm>
        <a:graphic>
          <a:graphicData uri="http://schemas.openxmlformats.org/drawingml/2006/table">
            <a:tbl>
              <a:tblPr bandRow="1"/>
              <a:tblGrid>
                <a:gridCol w="688068">
                  <a:extLst>
                    <a:ext uri="{9D8B030D-6E8A-4147-A177-3AD203B41FA5}">
                      <a16:colId xmlns:a16="http://schemas.microsoft.com/office/drawing/2014/main" val="20000"/>
                    </a:ext>
                  </a:extLst>
                </a:gridCol>
                <a:gridCol w="475830">
                  <a:extLst>
                    <a:ext uri="{9D8B030D-6E8A-4147-A177-3AD203B41FA5}">
                      <a16:colId xmlns:a16="http://schemas.microsoft.com/office/drawing/2014/main" val="20001"/>
                    </a:ext>
                  </a:extLst>
                </a:gridCol>
              </a:tblGrid>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Revenue: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l"/>
                      <a:r>
                        <a:rPr kumimoji="0" lang="en-US" sz="800" kern="1200" dirty="0">
                          <a:solidFill>
                            <a:schemeClr val="tx1"/>
                          </a:solidFill>
                          <a:latin typeface="Calibri"/>
                          <a:ea typeface="+mn-ea"/>
                          <a:cs typeface="+mn-cs"/>
                        </a:rPr>
                        <a:t>$51.3B</a:t>
                      </a:r>
                      <a:endParaRPr kumimoji="0" lang="en-US" sz="800" kern="1200" dirty="0">
                        <a:solidFill>
                          <a:schemeClr val="tx1"/>
                        </a:solidFill>
                        <a:latin typeface="Calibri"/>
                        <a:ea typeface="+mn-ea"/>
                        <a:cs typeface="+mn-cs"/>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EBITDA: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l"/>
                      <a:r>
                        <a:rPr kumimoji="0" lang="en-US" sz="800" kern="1200" dirty="0">
                          <a:solidFill>
                            <a:schemeClr val="tx1"/>
                          </a:solidFill>
                          <a:latin typeface="Calibri"/>
                          <a:ea typeface="+mn-ea"/>
                          <a:cs typeface="+mn-cs"/>
                        </a:rPr>
                        <a:t>$3.3B</a:t>
                      </a:r>
                      <a:endParaRPr kumimoji="0" lang="en-US" sz="800" kern="1200" dirty="0">
                        <a:solidFill>
                          <a:schemeClr val="tx1"/>
                        </a:solidFill>
                        <a:latin typeface="Calibri"/>
                        <a:ea typeface="+mn-ea"/>
                        <a:cs typeface="+mn-cs"/>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1" name="Rectangle 30">
            <a:extLst>
              <a:ext uri="{FF2B5EF4-FFF2-40B4-BE49-F238E27FC236}">
                <a16:creationId xmlns:a16="http://schemas.microsoft.com/office/drawing/2014/main" id="{1E6F25D2-3C88-4998-9558-D05903593669}"/>
              </a:ext>
            </a:extLst>
          </p:cNvPr>
          <p:cNvSpPr/>
          <p:nvPr/>
        </p:nvSpPr>
        <p:spPr bwMode="auto">
          <a:xfrm>
            <a:off x="2870200" y="1012614"/>
            <a:ext cx="5740400"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Business overview</a:t>
            </a:r>
          </a:p>
        </p:txBody>
      </p:sp>
      <p:sp>
        <p:nvSpPr>
          <p:cNvPr id="32" name="Rectangle 31">
            <a:extLst>
              <a:ext uri="{FF2B5EF4-FFF2-40B4-BE49-F238E27FC236}">
                <a16:creationId xmlns:a16="http://schemas.microsoft.com/office/drawing/2014/main" id="{3DA71E3B-DE31-416A-BCB5-B4FB9F25E937}"/>
              </a:ext>
            </a:extLst>
          </p:cNvPr>
          <p:cNvSpPr/>
          <p:nvPr/>
        </p:nvSpPr>
        <p:spPr bwMode="auto">
          <a:xfrm>
            <a:off x="2870200" y="1920240"/>
            <a:ext cx="5740400"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Recent News </a:t>
            </a:r>
          </a:p>
        </p:txBody>
      </p:sp>
      <p:pic>
        <p:nvPicPr>
          <p:cNvPr id="1028" name="Picture 4">
            <a:extLst>
              <a:ext uri="{FF2B5EF4-FFF2-40B4-BE49-F238E27FC236}">
                <a16:creationId xmlns:a16="http://schemas.microsoft.com/office/drawing/2014/main" id="{87766EB0-E5AF-16CD-8A03-456FAAA22A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926973"/>
            <a:ext cx="797559" cy="46579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227E42E-3E3C-7B75-E036-5DA9549F8839}"/>
              </a:ext>
            </a:extLst>
          </p:cNvPr>
          <p:cNvSpPr/>
          <p:nvPr/>
        </p:nvSpPr>
        <p:spPr bwMode="auto">
          <a:xfrm>
            <a:off x="380422" y="4272915"/>
            <a:ext cx="2332298"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LEADERSHIP TEAM</a:t>
            </a:r>
          </a:p>
        </p:txBody>
      </p:sp>
      <p:graphicFrame>
        <p:nvGraphicFramePr>
          <p:cNvPr id="3" name="Table 2">
            <a:extLst>
              <a:ext uri="{FF2B5EF4-FFF2-40B4-BE49-F238E27FC236}">
                <a16:creationId xmlns:a16="http://schemas.microsoft.com/office/drawing/2014/main" id="{D0E71256-C6BF-53E1-BBFF-91401FB50EA1}"/>
              </a:ext>
            </a:extLst>
          </p:cNvPr>
          <p:cNvGraphicFramePr>
            <a:graphicFrameLocks noGrp="1"/>
          </p:cNvGraphicFramePr>
          <p:nvPr>
            <p:extLst>
              <p:ext uri="{D42A27DB-BD31-4B8C-83A1-F6EECF244321}">
                <p14:modId xmlns:p14="http://schemas.microsoft.com/office/powerpoint/2010/main" val="611971196"/>
              </p:ext>
            </p:extLst>
          </p:nvPr>
        </p:nvGraphicFramePr>
        <p:xfrm>
          <a:off x="380422" y="4486711"/>
          <a:ext cx="2332298" cy="2080071"/>
        </p:xfrm>
        <a:graphic>
          <a:graphicData uri="http://schemas.openxmlformats.org/drawingml/2006/table">
            <a:tbl>
              <a:tblPr>
                <a:tableStyleId>{5C22544A-7EE6-4342-B048-85BDC9FD1C3A}</a:tableStyleId>
              </a:tblPr>
              <a:tblGrid>
                <a:gridCol w="1399379">
                  <a:extLst>
                    <a:ext uri="{9D8B030D-6E8A-4147-A177-3AD203B41FA5}">
                      <a16:colId xmlns:a16="http://schemas.microsoft.com/office/drawing/2014/main" val="20000"/>
                    </a:ext>
                  </a:extLst>
                </a:gridCol>
                <a:gridCol w="932919">
                  <a:extLst>
                    <a:ext uri="{9D8B030D-6E8A-4147-A177-3AD203B41FA5}">
                      <a16:colId xmlns:a16="http://schemas.microsoft.com/office/drawing/2014/main" val="20001"/>
                    </a:ext>
                  </a:extLst>
                </a:gridCol>
              </a:tblGrid>
              <a:tr h="297153">
                <a:tc>
                  <a:txBody>
                    <a:bodyPr/>
                    <a:lstStyle/>
                    <a:p>
                      <a:pPr marL="0" marR="0">
                        <a:lnSpc>
                          <a:spcPct val="107000"/>
                        </a:lnSpc>
                        <a:spcBef>
                          <a:spcPts val="0"/>
                        </a:spcBef>
                        <a:spcAft>
                          <a:spcPts val="0"/>
                        </a:spcAft>
                      </a:pPr>
                      <a:r>
                        <a:rPr lang="en-US" sz="800" b="1" dirty="0">
                          <a:effectLst/>
                        </a:rPr>
                        <a:t>Chief Executive Officer</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Corie Barry</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Financial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Anne Bramman</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Merchandising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Patrick McGinnis</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Supply Chain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Duane Scarboro</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Customer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Jason Bonfig</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Technology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Neal Sample</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Risk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lnSpc>
                          <a:spcPct val="107000"/>
                        </a:lnSpc>
                        <a:spcBef>
                          <a:spcPts val="0"/>
                        </a:spcBef>
                        <a:spcAft>
                          <a:spcPts val="0"/>
                        </a:spcAft>
                      </a:pPr>
                      <a:r>
                        <a:rPr lang="en-US" sz="800" dirty="0">
                          <a:effectLst/>
                          <a:latin typeface="Calibri" panose="020F0502020204030204" pitchFamily="34" charset="0"/>
                          <a:ea typeface="Times New Roman" panose="02020603050405020304" pitchFamily="18" charset="0"/>
                          <a:cs typeface="Times New Roman" panose="02020603050405020304" pitchFamily="18" charset="0"/>
                        </a:rPr>
                        <a:t>Todd Hartman</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101" name="Business Overview Body"/>
          <p:cNvSpPr txBox="1"/>
          <p:nvPr/>
        </p:nvSpPr>
        <p:spPr>
          <a:xfrm>
            <a:off x="2900200" y="1265000"/>
            <a:ext cx="5680400" cy="630000"/>
          </a:xfrm>
          <a:prstGeom prst="rect">
            <a:avLst/>
          </a:prstGeom>
          <a:noFill/>
        </p:spPr>
        <p:txBody>
          <a:bodyPr wrap="square" lIns="0" tIns="0" rIns="0" bIns="0"/>
          <a:lstStyle/>
          <a:p>
            <a:pPr algn="l" marL="0" indent="0">
              <a:buNone/>
            </a:pPr>
            <a:r>
              <a:rPr lang="en-US" sz="750" dirty="0">
                <a:latin typeface="Calibri"/>
              </a:rPr>
              <a:t>Best Buy Co., Inc. is a leading multinational consumer electronics retailer offering technology products, services, and solutions across computing, mobile phones, consumer electronics, appliances, and entertainment, along with Geek Squad technical support, delivery, and repair services. The company operates through Domestic (U.S.) and International (Canada) segments, serving customers via retail stores, online, and in-home consultations.</a:t>
            </a:r>
          </a:p>
        </p:txBody>
      </p:sp>
      <p:sp>
        <p:nvSpPr>
          <p:cNvPr id="102" name="Recent News Body"/>
          <p:cNvSpPr txBox="1"/>
          <p:nvPr/>
        </p:nvSpPr>
        <p:spPr>
          <a:xfrm>
            <a:off x="2900200" y="2180000"/>
            <a:ext cx="5680400" cy="4250000"/>
          </a:xfrm>
          <a:prstGeom prst="rect">
            <a:avLst/>
          </a:prstGeom>
          <a:noFill/>
        </p:spPr>
        <p:txBody>
          <a:bodyPr wrap="square" lIns="0" tIns="0" rIns="0" bIns="0"/>
          <a:lstStyle/>
          <a:p>
            <a:pPr algn="l" marL="114300" indent="-114300">
              <a:buFont typeface="Arial"/>
              <a:buChar char="•"/>
            </a:pPr>
            <a:r>
              <a:rPr lang="en-US" sz="750" dirty="0">
                <a:latin typeface="Calibri"/>
              </a:rPr>
              <a:t>Best Buy completed the nationwide rollout of Totaltech, an annual paid membership ($199.99/yr, later restructured into tiered My Best Buy plans) bundling 24/7 Geek Squad tech support, extended product protection, and member-only pricing — adding a recurring, subscription-based revenue stream alongside core hardware sales.</a:t>
            </a:r>
          </a:p>
          <a:p>
            <a:pPr algn="l" marL="114300" indent="-114300">
              <a:buFont typeface="Arial"/>
              <a:buChar char="•"/>
            </a:pPr>
            <a:r>
              <a:rPr lang="en-US" sz="750" dirty="0">
                <a:latin typeface="Calibri"/>
              </a:rPr>
              <a:t>The Q3 FY23 earnings release explicitly ties holiday promotional strategy to Totaltech and My Best Buy members, underscoring that the membership base is now central to customer engagement, retention, and cross-sell.</a:t>
            </a:r>
          </a:p>
          <a:p>
            <a:pPr algn="l" marL="114300" indent="-114300">
              <a:buFont typeface="Arial"/>
              <a:buChar char="•"/>
            </a:pPr>
            <a:r>
              <a:rPr lang="en-US" sz="750" dirty="0">
                <a:latin typeface="Calibri"/>
              </a:rPr>
              <a:t>Strategic implication: high-margin, recurring membership revenue helps offset cyclical hardware weakness (enterprise comparable sales down 10.4% in Q3 FY23), but management also flagged the Totaltech offering as a near-term drag on services gross margin, illustrating the investment-for-loyalty trade-off.</a:t>
            </a:r>
          </a:p>
        </p:txBody>
      </p:sp>
    </p:spTree>
    <p:extLst>
      <p:ext uri="{BB962C8B-B14F-4D97-AF65-F5344CB8AC3E}">
        <p14:creationId xmlns:p14="http://schemas.microsoft.com/office/powerpoint/2010/main" val="30921903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DFF5A"/>
        </a:solidFill>
        <a:ln w="28575" cap="rnd" cmpd="sng">
          <a:solidFill>
            <a:schemeClr val="tx1"/>
          </a:solidFill>
          <a:prstDash val="solid"/>
          <a:round/>
          <a:headEnd type="none" w="med" len="med"/>
          <a:tailEnd type="none" w="med" len="med"/>
        </a:ln>
        <a:effectLst/>
      </a:spPr>
      <a:bodyPr rtlCol="0" anchor="ctr"/>
      <a:lstStyle>
        <a:defPPr algn="ctr">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9484</TotalTime>
  <Words>73</Words>
  <Application>Microsoft Office PowerPoint</Application>
  <PresentationFormat>On-screen Show (4:3)</PresentationFormat>
  <Paragraphs>24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vt:lpstr>
      <vt:lpstr>Cambria</vt:lpstr>
      <vt:lpstr>Roboto Lt</vt:lpstr>
      <vt:lpstr>Wingdings</vt:lpstr>
      <vt:lpstr>Wingdings 3</vt:lpstr>
      <vt:lpstr>2_USE THIS</vt:lpstr>
      <vt:lpstr>BEST BUY | TARGET COMPANY 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Nathan Fencl</dc:creator>
  <cp:lastModifiedBy>Josh Provost</cp:lastModifiedBy>
  <cp:revision>949</cp:revision>
  <cp:lastPrinted>2017-08-15T08:51:31Z</cp:lastPrinted>
  <dcterms:created xsi:type="dcterms:W3CDTF">2015-11-15T18:39:17Z</dcterms:created>
  <dcterms:modified xsi:type="dcterms:W3CDTF">2022-12-01T17:45:58Z</dcterms:modified>
</cp:coreProperties>
</file>